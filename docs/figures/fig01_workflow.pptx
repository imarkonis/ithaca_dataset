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6" r:id="rId2"/>
  </p:sldIdLst>
  <p:sldSz cx="658812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35" userDrawn="1">
          <p15:clr>
            <a:srgbClr val="A4A3A4"/>
          </p15:clr>
        </p15:guide>
        <p15:guide id="2" pos="20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647"/>
    <p:restoredTop sz="95788"/>
  </p:normalViewPr>
  <p:slideViewPr>
    <p:cSldViewPr snapToGrid="0">
      <p:cViewPr varScale="1">
        <p:scale>
          <a:sx n="117" d="100"/>
          <a:sy n="117" d="100"/>
        </p:scale>
        <p:origin x="184" y="976"/>
      </p:cViewPr>
      <p:guideLst>
        <p:guide orient="horz" pos="1335"/>
        <p:guide pos="20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1A861-C166-8741-ADAB-1D559A0709BC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76325" y="1143000"/>
            <a:ext cx="4705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5BC42-BDBF-C742-A030-29F5317B5D8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09620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1pPr>
    <a:lvl2pPr marL="253106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2pPr>
    <a:lvl3pPr marL="506212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3pPr>
    <a:lvl4pPr marL="759318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4pPr>
    <a:lvl5pPr marL="1012424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5pPr>
    <a:lvl6pPr marL="1265530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6pPr>
    <a:lvl7pPr marL="1518636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7pPr>
    <a:lvl8pPr marL="1771741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8pPr>
    <a:lvl9pPr marL="2024847" algn="l" defTabSz="506212" rtl="0" eaLnBrk="1" latinLnBrk="0" hangingPunct="1">
      <a:defRPr sz="66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B080-2534-8D9D-4923-A2F6AB7F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FBD7F-A919-DF05-2203-C825FB100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6325" y="1143000"/>
            <a:ext cx="47053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BD026-A2AE-B069-47D9-1169A7A6B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6B412-C5B7-D797-F165-6C06151BE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5BC42-BDBF-C742-A030-29F5317B5D8D}" type="slidenum">
              <a:rPr lang="en-CZ" smtClean="0"/>
              <a:t>1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10056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706933"/>
            <a:ext cx="5599906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516" y="2268784"/>
            <a:ext cx="4941094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18480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44244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03" y="1076899"/>
            <a:ext cx="5682258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503" y="2890725"/>
            <a:ext cx="5682258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11207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934" y="1149890"/>
            <a:ext cx="2799953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5238" y="1149890"/>
            <a:ext cx="2799953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7782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229979"/>
            <a:ext cx="5682258" cy="834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793" y="1058899"/>
            <a:ext cx="2787085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793" y="1577849"/>
            <a:ext cx="2787085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239" y="1058899"/>
            <a:ext cx="2800811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5239" y="1577849"/>
            <a:ext cx="2800811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0276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3361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9041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287972"/>
            <a:ext cx="212484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811" y="621942"/>
            <a:ext cx="3335238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1295877"/>
            <a:ext cx="212484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5840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287972"/>
            <a:ext cx="212484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00811" y="621942"/>
            <a:ext cx="3335238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1295877"/>
            <a:ext cx="212484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58664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79376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4628" y="229978"/>
            <a:ext cx="1420564" cy="36606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934" y="229978"/>
            <a:ext cx="4179342" cy="36606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52884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934" y="229979"/>
            <a:ext cx="5682258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934" y="1149890"/>
            <a:ext cx="5682258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934" y="4003619"/>
            <a:ext cx="148232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5ED9A-6472-0F41-81EC-927151BA6CAF}" type="datetimeFigureOut">
              <a:rPr lang="en-CZ" smtClean="0"/>
              <a:t>15.10.2026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2317" y="4003619"/>
            <a:ext cx="222349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2863" y="4003619"/>
            <a:ext cx="148232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08225-5AF5-9340-B413-12FF74ADB15D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18718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5A80-74F1-E5F7-FD52-1D6EA735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38CE1D-4727-FEE4-EF2B-0DDED37A28DE}"/>
              </a:ext>
            </a:extLst>
          </p:cNvPr>
          <p:cNvSpPr/>
          <p:nvPr/>
        </p:nvSpPr>
        <p:spPr>
          <a:xfrm>
            <a:off x="-34721" y="4363"/>
            <a:ext cx="6660000" cy="4074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A51C2B-C961-336B-1767-47FA7F3771E1}"/>
              </a:ext>
            </a:extLst>
          </p:cNvPr>
          <p:cNvSpPr/>
          <p:nvPr/>
        </p:nvSpPr>
        <p:spPr>
          <a:xfrm>
            <a:off x="933213" y="3303538"/>
            <a:ext cx="3779096" cy="691030"/>
          </a:xfrm>
          <a:prstGeom prst="roundRect">
            <a:avLst>
              <a:gd name="adj" fmla="val 483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A436A-7CE0-0FB5-E94B-F55F6252317B}"/>
              </a:ext>
            </a:extLst>
          </p:cNvPr>
          <p:cNvSpPr txBox="1"/>
          <p:nvPr/>
        </p:nvSpPr>
        <p:spPr>
          <a:xfrm>
            <a:off x="270813" y="3451581"/>
            <a:ext cx="859682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ITHACA products</a:t>
            </a:r>
          </a:p>
        </p:txBody>
      </p:sp>
      <p:pic>
        <p:nvPicPr>
          <p:cNvPr id="3" name="Graphic 2" descr="Badge 5 with solid fill">
            <a:extLst>
              <a:ext uri="{FF2B5EF4-FFF2-40B4-BE49-F238E27FC236}">
                <a16:creationId xmlns:a16="http://schemas.microsoft.com/office/drawing/2014/main" id="{25187368-CC6B-0D95-30F9-52474EDD18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91" y="3478230"/>
            <a:ext cx="252000" cy="2520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BA1A3D4-E71B-1E67-33EC-692562AE9B70}"/>
              </a:ext>
            </a:extLst>
          </p:cNvPr>
          <p:cNvSpPr/>
          <p:nvPr/>
        </p:nvSpPr>
        <p:spPr>
          <a:xfrm>
            <a:off x="1869780" y="3434348"/>
            <a:ext cx="1117608" cy="540000"/>
          </a:xfrm>
          <a:prstGeom prst="roundRect">
            <a:avLst>
              <a:gd name="adj" fmla="val 6156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 </a:t>
            </a:r>
          </a:p>
          <a:p>
            <a:r>
              <a:rPr lang="en-CZ" sz="8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 x IPCC region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CZ" sz="8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IPCC region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CZ" sz="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499BF4A-0AE2-3D07-C30C-C133876ABA12}"/>
              </a:ext>
            </a:extLst>
          </p:cNvPr>
          <p:cNvSpPr/>
          <p:nvPr/>
        </p:nvSpPr>
        <p:spPr>
          <a:xfrm>
            <a:off x="930601" y="3417694"/>
            <a:ext cx="536085" cy="540000"/>
          </a:xfrm>
          <a:prstGeom prst="roundRect">
            <a:avLst>
              <a:gd name="adj" fmla="val 8734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r>
              <a:rPr lang="en-GB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CZ" sz="80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D6FEB4C-CDCA-B406-D145-341DD80E6B3A}"/>
              </a:ext>
            </a:extLst>
          </p:cNvPr>
          <p:cNvSpPr/>
          <p:nvPr/>
        </p:nvSpPr>
        <p:spPr>
          <a:xfrm>
            <a:off x="3204150" y="3440285"/>
            <a:ext cx="1363788" cy="540000"/>
          </a:xfrm>
          <a:prstGeom prst="roundRect">
            <a:avLst>
              <a:gd name="adj" fmla="val 902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CZ" sz="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Monte Carlo members</a:t>
            </a:r>
          </a:p>
          <a:p>
            <a:r>
              <a:rPr lang="en-CZ" sz="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Scenario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weights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Candidate pair provenance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Uncertainty estimates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07A3A-9678-966E-FF4C-235A134F6BC3}"/>
              </a:ext>
            </a:extLst>
          </p:cNvPr>
          <p:cNvSpPr txBox="1"/>
          <p:nvPr/>
        </p:nvSpPr>
        <p:spPr>
          <a:xfrm>
            <a:off x="933213" y="3294878"/>
            <a:ext cx="404352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Variables	 Scale 			Records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AE815D0-4E84-B960-5428-D10A78960DE7}"/>
              </a:ext>
            </a:extLst>
          </p:cNvPr>
          <p:cNvSpPr/>
          <p:nvPr/>
        </p:nvSpPr>
        <p:spPr>
          <a:xfrm>
            <a:off x="4781381" y="3294878"/>
            <a:ext cx="1768924" cy="709758"/>
          </a:xfrm>
          <a:prstGeom prst="roundRect">
            <a:avLst>
              <a:gd name="adj" fmla="val 5788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Two probabilistic </a:t>
            </a:r>
            <a:r>
              <a:rPr lang="en-GB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</a:t>
            </a:r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–</a:t>
            </a:r>
            <a:r>
              <a:rPr lang="en-GB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ensemble products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of plausible terrestrial 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water-cycle worlds.</a:t>
            </a:r>
            <a:endParaRPr lang="en-GB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Base</a:t>
            </a: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: balanced weighting</a:t>
            </a:r>
          </a:p>
          <a:p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Change</a:t>
            </a: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: greater weight on trends</a:t>
            </a:r>
            <a:endParaRPr lang="en-CZ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924DF3-E514-8F71-B44C-9ECA6B2FE7DC}"/>
              </a:ext>
            </a:extLst>
          </p:cNvPr>
          <p:cNvSpPr/>
          <p:nvPr/>
        </p:nvSpPr>
        <p:spPr>
          <a:xfrm>
            <a:off x="4767245" y="333364"/>
            <a:ext cx="1803671" cy="2841993"/>
          </a:xfrm>
          <a:prstGeom prst="roundRect">
            <a:avLst>
              <a:gd name="adj" fmla="val 483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AC4CC-088F-4FD1-C6A2-A5C85822800A}"/>
              </a:ext>
            </a:extLst>
          </p:cNvPr>
          <p:cNvSpPr txBox="1"/>
          <p:nvPr/>
        </p:nvSpPr>
        <p:spPr>
          <a:xfrm>
            <a:off x="5063066" y="60406"/>
            <a:ext cx="150341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Monte Carlo sampling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BD66B-33B7-9808-815D-0413544AFC4A}"/>
              </a:ext>
            </a:extLst>
          </p:cNvPr>
          <p:cNvSpPr txBox="1"/>
          <p:nvPr/>
        </p:nvSpPr>
        <p:spPr>
          <a:xfrm>
            <a:off x="4758659" y="338412"/>
            <a:ext cx="1815927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For all </a:t>
            </a:r>
            <a:r>
              <a:rPr lang="en-CZ" sz="9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235 units </a:t>
            </a:r>
          </a:p>
          <a:p>
            <a:pPr algn="ctr"/>
            <a:r>
              <a:rPr lang="en-CZ" sz="9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 x IPCC region</a:t>
            </a:r>
          </a:p>
        </p:txBody>
      </p:sp>
      <p:pic>
        <p:nvPicPr>
          <p:cNvPr id="15" name="Graphic 14" descr="Repeat outline">
            <a:extLst>
              <a:ext uri="{FF2B5EF4-FFF2-40B4-BE49-F238E27FC236}">
                <a16:creationId xmlns:a16="http://schemas.microsoft.com/office/drawing/2014/main" id="{A9AA7F6F-D960-0337-D5D9-646A8A138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6836" y="703911"/>
            <a:ext cx="223668" cy="22366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DACF222-6F72-11EB-34FB-F57E169F0FC5}"/>
              </a:ext>
            </a:extLst>
          </p:cNvPr>
          <p:cNvSpPr/>
          <p:nvPr/>
        </p:nvSpPr>
        <p:spPr>
          <a:xfrm>
            <a:off x="4804227" y="1212104"/>
            <a:ext cx="1718063" cy="425057"/>
          </a:xfrm>
          <a:prstGeom prst="roundRect">
            <a:avLst>
              <a:gd name="adj" fmla="val 1009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candidate </a:t>
            </a:r>
            <a:r>
              <a:rPr lang="en-CZ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CZ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 using </a:t>
            </a:r>
            <a:r>
              <a:rPr lang="en-CZ" sz="8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’s cumulative </a:t>
            </a:r>
            <a:r>
              <a:rPr lang="en-CZ" sz="8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en-CZ" sz="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probabilities</a:t>
            </a:r>
            <a:endParaRPr lang="en-CZ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FCB489-E5CF-080C-AAC1-9083A0BDFFE6}"/>
              </a:ext>
            </a:extLst>
          </p:cNvPr>
          <p:cNvSpPr txBox="1"/>
          <p:nvPr/>
        </p:nvSpPr>
        <p:spPr>
          <a:xfrm>
            <a:off x="5031602" y="639349"/>
            <a:ext cx="153931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CZ" sz="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members, 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sample a  uniform random number </a:t>
            </a:r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[0,1] </a:t>
            </a:r>
            <a:endParaRPr lang="en-CZ" sz="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CC06612-737A-2EBB-74E5-CEE5343E6A78}"/>
              </a:ext>
            </a:extLst>
          </p:cNvPr>
          <p:cNvSpPr/>
          <p:nvPr/>
        </p:nvSpPr>
        <p:spPr>
          <a:xfrm>
            <a:off x="4804227" y="1673447"/>
            <a:ext cx="1749817" cy="334335"/>
          </a:xfrm>
          <a:prstGeom prst="roundRect">
            <a:avLst>
              <a:gd name="adj" fmla="val 1015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selected pair’s original </a:t>
            </a:r>
            <a:r>
              <a:rPr lang="en-GB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GB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for all cells and years within the </a:t>
            </a:r>
            <a:r>
              <a:rPr lang="en-GB" sz="8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endParaRPr lang="en-CZ" sz="80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D017B-1BF9-2465-C4DC-836FC3B4AD85}"/>
              </a:ext>
            </a:extLst>
          </p:cNvPr>
          <p:cNvSpPr txBox="1"/>
          <p:nvPr/>
        </p:nvSpPr>
        <p:spPr>
          <a:xfrm>
            <a:off x="5031600" y="912463"/>
            <a:ext cx="1518704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Reu</a:t>
            </a:r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e that number across all </a:t>
            </a:r>
            <a:r>
              <a:rPr lang="en-CZ" sz="8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scenarios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03ED286-9EAB-C50F-3943-47C4237448B2}"/>
              </a:ext>
            </a:extLst>
          </p:cNvPr>
          <p:cNvSpPr/>
          <p:nvPr/>
        </p:nvSpPr>
        <p:spPr>
          <a:xfrm>
            <a:off x="4811485" y="2662580"/>
            <a:ext cx="1710806" cy="451267"/>
          </a:xfrm>
          <a:prstGeom prst="roundRect">
            <a:avLst>
              <a:gd name="adj" fmla="val 598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CZ" sz="8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CZ" sz="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area-weighted annual </a:t>
            </a:r>
            <a:r>
              <a:rPr lang="en-CZ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CZ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series for each </a:t>
            </a:r>
            <a:r>
              <a:rPr lang="en-CZ" sz="8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IPCC region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CZ" sz="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globally</a:t>
            </a:r>
            <a:endParaRPr lang="en-CZ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BD055FD-3F89-2DD0-E33F-867EA4B1BE1F}"/>
              </a:ext>
            </a:extLst>
          </p:cNvPr>
          <p:cNvSpPr/>
          <p:nvPr/>
        </p:nvSpPr>
        <p:spPr>
          <a:xfrm>
            <a:off x="4804227" y="2048216"/>
            <a:ext cx="1738820" cy="341808"/>
          </a:xfrm>
          <a:prstGeom prst="roundRect">
            <a:avLst>
              <a:gd name="adj" fmla="val 10013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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For the same </a:t>
            </a:r>
            <a:r>
              <a:rPr lang="en-CZ" sz="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member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ifferences in </a:t>
            </a:r>
            <a:r>
              <a:rPr lang="en-CZ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CZ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come from </a:t>
            </a:r>
            <a:r>
              <a:rPr lang="en-CZ" sz="8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weights</a:t>
            </a:r>
            <a:endParaRPr lang="en-CZ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3279D-1601-6D1E-F4E5-7A6E26B25440}"/>
              </a:ext>
            </a:extLst>
          </p:cNvPr>
          <p:cNvSpPr txBox="1"/>
          <p:nvPr/>
        </p:nvSpPr>
        <p:spPr>
          <a:xfrm>
            <a:off x="4774502" y="2466440"/>
            <a:ext cx="1301123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</a:p>
        </p:txBody>
      </p:sp>
      <p:pic>
        <p:nvPicPr>
          <p:cNvPr id="26" name="Graphic 25" descr="Badge 4 with solid fill">
            <a:extLst>
              <a:ext uri="{FF2B5EF4-FFF2-40B4-BE49-F238E27FC236}">
                <a16:creationId xmlns:a16="http://schemas.microsoft.com/office/drawing/2014/main" id="{19CE3FAE-9779-01A3-1205-443EC0A9FA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81380" y="41910"/>
            <a:ext cx="252000" cy="252000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3EAF9C6-7C3C-5933-0A0F-932FD3126B80}"/>
              </a:ext>
            </a:extLst>
          </p:cNvPr>
          <p:cNvSpPr/>
          <p:nvPr/>
        </p:nvSpPr>
        <p:spPr>
          <a:xfrm>
            <a:off x="3036037" y="340634"/>
            <a:ext cx="1683557" cy="2830877"/>
          </a:xfrm>
          <a:prstGeom prst="roundRect">
            <a:avLst>
              <a:gd name="adj" fmla="val 483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6DCA16-3131-D123-7F9B-6CDB4079F664}"/>
              </a:ext>
            </a:extLst>
          </p:cNvPr>
          <p:cNvSpPr txBox="1"/>
          <p:nvPr/>
        </p:nvSpPr>
        <p:spPr>
          <a:xfrm>
            <a:off x="3310362" y="56652"/>
            <a:ext cx="139393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Sampling probabilities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6081562-975F-A587-A7F8-F51D19195084}"/>
              </a:ext>
            </a:extLst>
          </p:cNvPr>
          <p:cNvSpPr/>
          <p:nvPr/>
        </p:nvSpPr>
        <p:spPr>
          <a:xfrm>
            <a:off x="3046738" y="797299"/>
            <a:ext cx="1672855" cy="572143"/>
          </a:xfrm>
          <a:prstGeom prst="roundRect">
            <a:avLst>
              <a:gd name="adj" fmla="val 6678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CZ" sz="8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scenarios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Table X</a:t>
            </a:r>
          </a:p>
          <a:p>
            <a:r>
              <a:rPr lang="en-CZ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product scenarios</a:t>
            </a:r>
            <a:r>
              <a:rPr lang="en-CZ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CZ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and Change</a:t>
            </a:r>
          </a:p>
          <a:p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sensitivity scenarios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CD3562-B27B-7657-0BCE-CA35D2868928}"/>
              </a:ext>
            </a:extLst>
          </p:cNvPr>
          <p:cNvSpPr txBox="1"/>
          <p:nvPr/>
        </p:nvSpPr>
        <p:spPr>
          <a:xfrm>
            <a:off x="3046739" y="655887"/>
            <a:ext cx="1672854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Grid-cell weights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0F9976-2614-35DC-AE3F-FCB5F994F1A5}"/>
              </a:ext>
            </a:extLst>
          </p:cNvPr>
          <p:cNvSpPr txBox="1"/>
          <p:nvPr/>
        </p:nvSpPr>
        <p:spPr>
          <a:xfrm>
            <a:off x="3046738" y="2219747"/>
            <a:ext cx="1669041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Sampling probabilities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F265CA0-EA26-DDF4-D6F2-E0828E8D3FD3}"/>
              </a:ext>
            </a:extLst>
          </p:cNvPr>
          <p:cNvSpPr/>
          <p:nvPr/>
        </p:nvSpPr>
        <p:spPr>
          <a:xfrm>
            <a:off x="3096163" y="2416512"/>
            <a:ext cx="1585083" cy="702582"/>
          </a:xfrm>
          <a:prstGeom prst="roundRect">
            <a:avLst>
              <a:gd name="adj" fmla="val 361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36000" rIns="0" bIns="36000" rtlCol="0" anchor="ctr"/>
          <a:lstStyle/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</a:t>
            </a:r>
            <a:r>
              <a:rPr lang="en-CZ" sz="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 pair, 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area-weighted </a:t>
            </a:r>
            <a:r>
              <a:rPr lang="en-CZ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probabilities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</a:p>
          <a:p>
            <a:r>
              <a:rPr lang="en-CZ" sz="800" i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235 </a:t>
            </a:r>
            <a:r>
              <a:rPr lang="en-CZ" sz="8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</a:t>
            </a:r>
            <a:r>
              <a:rPr lang="en-CZ" sz="8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en-CZ" sz="8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IPCC region </a:t>
            </a:r>
            <a:r>
              <a:rPr lang="en-CZ" sz="800" i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units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19FBED-F923-7487-C191-B52AC5A71979}"/>
              </a:ext>
            </a:extLst>
          </p:cNvPr>
          <p:cNvSpPr txBox="1"/>
          <p:nvPr/>
        </p:nvSpPr>
        <p:spPr>
          <a:xfrm>
            <a:off x="2988386" y="1366960"/>
            <a:ext cx="14306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Physics gate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048856-9041-5E58-5110-9F7DB56DDE1D}"/>
              </a:ext>
            </a:extLst>
          </p:cNvPr>
          <p:cNvSpPr txBox="1"/>
          <p:nvPr/>
        </p:nvSpPr>
        <p:spPr>
          <a:xfrm>
            <a:off x="3046739" y="1501949"/>
            <a:ext cx="1683556" cy="6882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For candidate pairs, is </a:t>
            </a:r>
            <a:r>
              <a:rPr lang="en-CZ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CZ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≥ 0.9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  <a:p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For at least 7 of 12 </a:t>
            </a:r>
            <a:r>
              <a:rPr lang="en-CZ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</a:t>
            </a:r>
            <a:r>
              <a:rPr lang="en-CZ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estimates,  is </a:t>
            </a:r>
            <a:r>
              <a:rPr lang="en-CZ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CZ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PET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 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Pair’s grid-cell weight = 0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C9D711-2B4D-41E1-F42C-8A2F10562020}"/>
              </a:ext>
            </a:extLst>
          </p:cNvPr>
          <p:cNvSpPr/>
          <p:nvPr/>
        </p:nvSpPr>
        <p:spPr>
          <a:xfrm>
            <a:off x="1629780" y="341237"/>
            <a:ext cx="1367191" cy="2830877"/>
          </a:xfrm>
          <a:prstGeom prst="roundRect">
            <a:avLst>
              <a:gd name="adj" fmla="val 483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CDDC50-C927-6BF9-47C2-FFC87B77B408}"/>
              </a:ext>
            </a:extLst>
          </p:cNvPr>
          <p:cNvSpPr txBox="1"/>
          <p:nvPr/>
        </p:nvSpPr>
        <p:spPr>
          <a:xfrm>
            <a:off x="1825127" y="15093"/>
            <a:ext cx="1200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Candidate-specific evaluation</a:t>
            </a:r>
          </a:p>
          <a:p>
            <a:endParaRPr lang="en-CZ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B2A6A7-26A5-CD56-54D8-FB6F202CB85F}"/>
              </a:ext>
            </a:extLst>
          </p:cNvPr>
          <p:cNvSpPr txBox="1"/>
          <p:nvPr/>
        </p:nvSpPr>
        <p:spPr>
          <a:xfrm>
            <a:off x="1640063" y="1272065"/>
            <a:ext cx="1238458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Leave-candidate-out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8B05A84-7A1B-A17A-2D1B-6232BD508F3A}"/>
              </a:ext>
            </a:extLst>
          </p:cNvPr>
          <p:cNvSpPr/>
          <p:nvPr/>
        </p:nvSpPr>
        <p:spPr>
          <a:xfrm>
            <a:off x="1652201" y="728690"/>
            <a:ext cx="1188000" cy="550847"/>
          </a:xfrm>
          <a:prstGeom prst="roundRect">
            <a:avLst>
              <a:gd name="adj" fmla="val 5086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deviation (sd)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Sen-slope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Trend significance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E668091-0B22-8295-60DC-F5FB7C0E9941}"/>
              </a:ext>
            </a:extLst>
          </p:cNvPr>
          <p:cNvSpPr/>
          <p:nvPr/>
        </p:nvSpPr>
        <p:spPr>
          <a:xfrm>
            <a:off x="1652201" y="1812482"/>
            <a:ext cx="1188000" cy="560211"/>
          </a:xfrm>
          <a:prstGeom prst="roundRect">
            <a:avLst>
              <a:gd name="adj" fmla="val 8266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of means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of sd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of Sen-slope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Majority significance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2A6395-BBC2-2814-FA80-D0923D98AAA2}"/>
              </a:ext>
            </a:extLst>
          </p:cNvPr>
          <p:cNvSpPr txBox="1"/>
          <p:nvPr/>
        </p:nvSpPr>
        <p:spPr>
          <a:xfrm>
            <a:off x="1634681" y="526340"/>
            <a:ext cx="100725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Calculate statistics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BE946B-E5A7-8FA2-FA23-6CAFF28CAC9C}"/>
              </a:ext>
            </a:extLst>
          </p:cNvPr>
          <p:cNvSpPr txBox="1"/>
          <p:nvPr/>
        </p:nvSpPr>
        <p:spPr>
          <a:xfrm>
            <a:off x="1627740" y="2354006"/>
            <a:ext cx="1294910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Calculate 4 error metrics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FE55678-0EB3-A841-2006-FFE9D6896BA8}"/>
              </a:ext>
            </a:extLst>
          </p:cNvPr>
          <p:cNvSpPr/>
          <p:nvPr/>
        </p:nvSpPr>
        <p:spPr>
          <a:xfrm>
            <a:off x="1652201" y="2536815"/>
            <a:ext cx="1188000" cy="603294"/>
          </a:xfrm>
          <a:prstGeom prst="roundRect">
            <a:avLst>
              <a:gd name="adj" fmla="val 529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absolute bias: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Sen-slope</a:t>
            </a:r>
          </a:p>
          <a:p>
            <a:r>
              <a:rPr lang="en-CZ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Significance agreement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DA3EB1E-52E7-0CB8-D772-67FAEB21E9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046" b="8948"/>
          <a:stretch>
            <a:fillRect/>
          </a:stretch>
        </p:blipFill>
        <p:spPr>
          <a:xfrm>
            <a:off x="1706522" y="1476171"/>
            <a:ext cx="422438" cy="180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A716009-9FD3-20FE-759D-21D439B0FCE8}"/>
              </a:ext>
            </a:extLst>
          </p:cNvPr>
          <p:cNvSpPr txBox="1"/>
          <p:nvPr/>
        </p:nvSpPr>
        <p:spPr>
          <a:xfrm>
            <a:off x="1606160" y="344054"/>
            <a:ext cx="1390811" cy="19581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Per grid cell for </a:t>
            </a:r>
            <a:r>
              <a:rPr lang="en-CZ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Z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F8D1F8-8688-68FC-C2B5-62FAE7E8D9F9}"/>
              </a:ext>
            </a:extLst>
          </p:cNvPr>
          <p:cNvSpPr txBox="1"/>
          <p:nvPr/>
        </p:nvSpPr>
        <p:spPr>
          <a:xfrm>
            <a:off x="1610707" y="160923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Candidate</a:t>
            </a:r>
            <a:endParaRPr lang="en-CZ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Graphic 59" descr="Repeat outline">
            <a:extLst>
              <a:ext uri="{FF2B5EF4-FFF2-40B4-BE49-F238E27FC236}">
                <a16:creationId xmlns:a16="http://schemas.microsoft.com/office/drawing/2014/main" id="{84867BCC-0F0A-88C7-0352-B3A48C45F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509" y="1485494"/>
            <a:ext cx="180000" cy="180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98F3CAE-2F38-F5FB-AC31-915DA1E55E51}"/>
              </a:ext>
            </a:extLst>
          </p:cNvPr>
          <p:cNvGrpSpPr/>
          <p:nvPr/>
        </p:nvGrpSpPr>
        <p:grpSpPr>
          <a:xfrm>
            <a:off x="2388627" y="1463170"/>
            <a:ext cx="561128" cy="275968"/>
            <a:chOff x="2310833" y="1465826"/>
            <a:chExt cx="561128" cy="275968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C9528B99-94E6-B6B5-67B3-0E14BECC5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46" b="8948"/>
            <a:stretch>
              <a:fillRect/>
            </a:stretch>
          </p:blipFill>
          <p:spPr>
            <a:xfrm>
              <a:off x="2310833" y="1465826"/>
              <a:ext cx="422438" cy="18000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B7F816B-C3BC-B30D-2FCD-9572E13D6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46" b="8948"/>
            <a:stretch>
              <a:fillRect/>
            </a:stretch>
          </p:blipFill>
          <p:spPr>
            <a:xfrm>
              <a:off x="2332099" y="1478428"/>
              <a:ext cx="422438" cy="180000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CB7AE4E-140B-BAD2-38A8-0663CAEE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46" b="8948"/>
            <a:stretch>
              <a:fillRect/>
            </a:stretch>
          </p:blipFill>
          <p:spPr>
            <a:xfrm>
              <a:off x="2353597" y="1493013"/>
              <a:ext cx="422438" cy="180000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DFECA85-26C2-DB12-723A-485104F35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46" b="8948"/>
            <a:stretch>
              <a:fillRect/>
            </a:stretch>
          </p:blipFill>
          <p:spPr>
            <a:xfrm>
              <a:off x="2375095" y="1508649"/>
              <a:ext cx="422438" cy="18000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4036291-22B9-C1E3-04FA-FD01374AA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46" b="8948"/>
            <a:stretch>
              <a:fillRect/>
            </a:stretch>
          </p:blipFill>
          <p:spPr>
            <a:xfrm>
              <a:off x="2399906" y="1526373"/>
              <a:ext cx="422438" cy="180000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749ECDD-98F5-8EDA-2D99-9950EEC42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46" b="8948"/>
            <a:stretch>
              <a:fillRect/>
            </a:stretch>
          </p:blipFill>
          <p:spPr>
            <a:xfrm>
              <a:off x="2424712" y="1544094"/>
              <a:ext cx="422438" cy="180000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06242CF-CC39-463C-8143-0D7FD9C87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46" b="8948"/>
            <a:stretch>
              <a:fillRect/>
            </a:stretch>
          </p:blipFill>
          <p:spPr>
            <a:xfrm>
              <a:off x="2449523" y="1561794"/>
              <a:ext cx="422438" cy="180000"/>
            </a:xfrm>
            <a:prstGeom prst="rect">
              <a:avLst/>
            </a:prstGeom>
          </p:spPr>
        </p:pic>
      </p:grpSp>
      <p:pic>
        <p:nvPicPr>
          <p:cNvPr id="77" name="Graphic 76" descr="Badge with solid fill">
            <a:extLst>
              <a:ext uri="{FF2B5EF4-FFF2-40B4-BE49-F238E27FC236}">
                <a16:creationId xmlns:a16="http://schemas.microsoft.com/office/drawing/2014/main" id="{1645B650-1B3D-FC96-B650-527FC011A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608516" y="25859"/>
            <a:ext cx="252000" cy="252000"/>
          </a:xfrm>
          <a:prstGeom prst="rect">
            <a:avLst/>
          </a:prstGeom>
        </p:spPr>
      </p:pic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0987A9E9-FBBF-0422-0E12-91AF41729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783006"/>
              </p:ext>
            </p:extLst>
          </p:nvPr>
        </p:nvGraphicFramePr>
        <p:xfrm>
          <a:off x="45078" y="927759"/>
          <a:ext cx="1495389" cy="10611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613">
                  <a:extLst>
                    <a:ext uri="{9D8B030D-6E8A-4147-A177-3AD203B41FA5}">
                      <a16:colId xmlns:a16="http://schemas.microsoft.com/office/drawing/2014/main" val="2532304785"/>
                    </a:ext>
                  </a:extLst>
                </a:gridCol>
                <a:gridCol w="665725">
                  <a:extLst>
                    <a:ext uri="{9D8B030D-6E8A-4147-A177-3AD203B41FA5}">
                      <a16:colId xmlns:a16="http://schemas.microsoft.com/office/drawing/2014/main" val="3068036760"/>
                    </a:ext>
                  </a:extLst>
                </a:gridCol>
                <a:gridCol w="683051">
                  <a:extLst>
                    <a:ext uri="{9D8B030D-6E8A-4147-A177-3AD203B41FA5}">
                      <a16:colId xmlns:a16="http://schemas.microsoft.com/office/drawing/2014/main" val="684283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36000" marB="360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ERA5-Land</a:t>
                      </a:r>
                    </a:p>
                  </a:txBody>
                  <a:tcPr marL="36000" marR="36000" marT="36000" marB="36000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941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ERA5-Land</a:t>
                      </a:r>
                    </a:p>
                  </a:txBody>
                  <a:tcPr marL="36000" marR="36000" marT="36000" marB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72485"/>
                  </a:ext>
                </a:extLst>
              </a:tr>
              <a:tr h="117123"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36000" marB="360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FLDAS</a:t>
                      </a:r>
                    </a:p>
                  </a:txBody>
                  <a:tcPr marL="36000" marR="36000" marT="36000" marB="36000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941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FLDAS</a:t>
                      </a:r>
                    </a:p>
                  </a:txBody>
                  <a:tcPr marL="36000" marR="36000" marT="36000" marB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691936"/>
                  </a:ext>
                </a:extLst>
              </a:tr>
              <a:tr h="221071"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36000" marB="360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MERRA-2</a:t>
                      </a:r>
                    </a:p>
                  </a:txBody>
                  <a:tcPr marL="36000" marR="36000" marT="36000" marB="36000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MERRA-2</a:t>
                      </a:r>
                    </a:p>
                  </a:txBody>
                  <a:tcPr marL="36000" marR="36000" marT="36000" marB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030732"/>
                  </a:ext>
                </a:extLst>
              </a:tr>
              <a:tr h="231119"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36000" marB="360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TerraClimate</a:t>
                      </a:r>
                    </a:p>
                  </a:txBody>
                  <a:tcPr marL="36000" marR="36000" marT="36000" marB="36000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TerraClimate</a:t>
                      </a:r>
                    </a:p>
                  </a:txBody>
                  <a:tcPr marL="36000" marR="36000" marT="36000" marB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001596"/>
                  </a:ext>
                </a:extLst>
              </a:tr>
              <a:tr h="221071"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36000" marB="3600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MSWEP</a:t>
                      </a:r>
                    </a:p>
                  </a:txBody>
                  <a:tcPr marL="36000" marR="36000" marT="36000" marB="36000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Z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GLEAM</a:t>
                      </a:r>
                    </a:p>
                  </a:txBody>
                  <a:tcPr marL="36000" marR="36000" marT="36000" marB="3600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324593"/>
                  </a:ext>
                </a:extLst>
              </a:tr>
            </a:tbl>
          </a:graphicData>
        </a:graphic>
      </p:graphicFrame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DE9C8D0F-C618-48DD-B8B2-2385DDEC8BC5}"/>
              </a:ext>
            </a:extLst>
          </p:cNvPr>
          <p:cNvSpPr/>
          <p:nvPr/>
        </p:nvSpPr>
        <p:spPr>
          <a:xfrm>
            <a:off x="13538" y="333546"/>
            <a:ext cx="1568274" cy="2831481"/>
          </a:xfrm>
          <a:prstGeom prst="roundRect">
            <a:avLst>
              <a:gd name="adj" fmla="val 483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Graphic 5" descr="Badge 1 with solid fill">
            <a:extLst>
              <a:ext uri="{FF2B5EF4-FFF2-40B4-BE49-F238E27FC236}">
                <a16:creationId xmlns:a16="http://schemas.microsoft.com/office/drawing/2014/main" id="{BD85A83F-90F6-CB51-28C8-9FB85CD44386}"/>
              </a:ext>
            </a:extLst>
          </p:cNvPr>
          <p:cNvSpPr/>
          <p:nvPr/>
        </p:nvSpPr>
        <p:spPr>
          <a:xfrm>
            <a:off x="21648" y="60190"/>
            <a:ext cx="199389" cy="199389"/>
          </a:xfrm>
          <a:custGeom>
            <a:avLst/>
            <a:gdLst>
              <a:gd name="csX0" fmla="*/ 99695 w 199389"/>
              <a:gd name="csY0" fmla="*/ 0 h 199389"/>
              <a:gd name="csX1" fmla="*/ 0 w 199389"/>
              <a:gd name="csY1" fmla="*/ 99695 h 199389"/>
              <a:gd name="csX2" fmla="*/ 99695 w 199389"/>
              <a:gd name="csY2" fmla="*/ 199390 h 199389"/>
              <a:gd name="csX3" fmla="*/ 199390 w 199389"/>
              <a:gd name="csY3" fmla="*/ 99695 h 199389"/>
              <a:gd name="csX4" fmla="*/ 199390 w 199389"/>
              <a:gd name="csY4" fmla="*/ 99684 h 199389"/>
              <a:gd name="csX5" fmla="*/ 99774 w 199389"/>
              <a:gd name="csY5" fmla="*/ 0 h 199389"/>
              <a:gd name="csX6" fmla="*/ 99695 w 199389"/>
              <a:gd name="csY6" fmla="*/ 0 h 199389"/>
              <a:gd name="csX7" fmla="*/ 110631 w 199389"/>
              <a:gd name="csY7" fmla="*/ 142013 h 199389"/>
              <a:gd name="csX8" fmla="*/ 95466 w 199389"/>
              <a:gd name="csY8" fmla="*/ 142013 h 199389"/>
              <a:gd name="csX9" fmla="*/ 95466 w 199389"/>
              <a:gd name="csY9" fmla="*/ 69586 h 199389"/>
              <a:gd name="csX10" fmla="*/ 91410 w 199389"/>
              <a:gd name="csY10" fmla="*/ 72114 h 199389"/>
              <a:gd name="csX11" fmla="*/ 87011 w 199389"/>
              <a:gd name="csY11" fmla="*/ 74293 h 199389"/>
              <a:gd name="csX12" fmla="*/ 81869 w 199389"/>
              <a:gd name="csY12" fmla="*/ 76080 h 199389"/>
              <a:gd name="csX13" fmla="*/ 75941 w 199389"/>
              <a:gd name="csY13" fmla="*/ 77692 h 199389"/>
              <a:gd name="csX14" fmla="*/ 75941 w 199389"/>
              <a:gd name="csY14" fmla="*/ 65578 h 199389"/>
              <a:gd name="csX15" fmla="*/ 79905 w 199389"/>
              <a:gd name="csY15" fmla="*/ 64357 h 199389"/>
              <a:gd name="csX16" fmla="*/ 83438 w 199389"/>
              <a:gd name="csY16" fmla="*/ 63137 h 199389"/>
              <a:gd name="csX17" fmla="*/ 86924 w 199389"/>
              <a:gd name="csY17" fmla="*/ 61698 h 199389"/>
              <a:gd name="csX18" fmla="*/ 90410 w 199389"/>
              <a:gd name="csY18" fmla="*/ 60260 h 199389"/>
              <a:gd name="csX19" fmla="*/ 93762 w 199389"/>
              <a:gd name="csY19" fmla="*/ 58517 h 199389"/>
              <a:gd name="csX20" fmla="*/ 97122 w 199389"/>
              <a:gd name="csY20" fmla="*/ 56679 h 199389"/>
              <a:gd name="csX21" fmla="*/ 100737 w 199389"/>
              <a:gd name="csY21" fmla="*/ 54579 h 199389"/>
              <a:gd name="csX22" fmla="*/ 104357 w 199389"/>
              <a:gd name="csY22" fmla="*/ 52479 h 199389"/>
              <a:gd name="csX23" fmla="*/ 110631 w 199389"/>
              <a:gd name="csY23" fmla="*/ 52479 h 199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99389" h="199389">
                <a:moveTo>
                  <a:pt x="99695" y="0"/>
                </a:moveTo>
                <a:cubicBezTo>
                  <a:pt x="44635" y="0"/>
                  <a:pt x="0" y="44635"/>
                  <a:pt x="0" y="99695"/>
                </a:cubicBezTo>
                <a:cubicBezTo>
                  <a:pt x="0" y="154755"/>
                  <a:pt x="44635" y="199390"/>
                  <a:pt x="99695" y="199390"/>
                </a:cubicBezTo>
                <a:cubicBezTo>
                  <a:pt x="154755" y="199390"/>
                  <a:pt x="199390" y="154755"/>
                  <a:pt x="199390" y="99695"/>
                </a:cubicBezTo>
                <a:cubicBezTo>
                  <a:pt x="199390" y="99691"/>
                  <a:pt x="199390" y="99688"/>
                  <a:pt x="199390" y="99684"/>
                </a:cubicBezTo>
                <a:cubicBezTo>
                  <a:pt x="199409" y="44649"/>
                  <a:pt x="154809" y="19"/>
                  <a:pt x="99774" y="0"/>
                </a:cubicBezTo>
                <a:cubicBezTo>
                  <a:pt x="99747" y="0"/>
                  <a:pt x="99721" y="0"/>
                  <a:pt x="99695" y="0"/>
                </a:cubicBezTo>
                <a:close/>
                <a:moveTo>
                  <a:pt x="110631" y="142013"/>
                </a:moveTo>
                <a:lnTo>
                  <a:pt x="95466" y="142013"/>
                </a:lnTo>
                <a:lnTo>
                  <a:pt x="95466" y="69586"/>
                </a:lnTo>
                <a:cubicBezTo>
                  <a:pt x="94185" y="70461"/>
                  <a:pt x="92833" y="71304"/>
                  <a:pt x="91410" y="72114"/>
                </a:cubicBezTo>
                <a:cubicBezTo>
                  <a:pt x="89988" y="72927"/>
                  <a:pt x="88519" y="73654"/>
                  <a:pt x="87011" y="74293"/>
                </a:cubicBezTo>
                <a:cubicBezTo>
                  <a:pt x="85380" y="74933"/>
                  <a:pt x="83666" y="75529"/>
                  <a:pt x="81869" y="76080"/>
                </a:cubicBezTo>
                <a:cubicBezTo>
                  <a:pt x="80071" y="76632"/>
                  <a:pt x="78096" y="77169"/>
                  <a:pt x="75941" y="77692"/>
                </a:cubicBezTo>
                <a:lnTo>
                  <a:pt x="75941" y="65578"/>
                </a:lnTo>
                <a:cubicBezTo>
                  <a:pt x="77394" y="65170"/>
                  <a:pt x="78715" y="64763"/>
                  <a:pt x="79905" y="64357"/>
                </a:cubicBezTo>
                <a:cubicBezTo>
                  <a:pt x="81095" y="63951"/>
                  <a:pt x="82273" y="63544"/>
                  <a:pt x="83438" y="63137"/>
                </a:cubicBezTo>
                <a:cubicBezTo>
                  <a:pt x="84596" y="62672"/>
                  <a:pt x="85761" y="62194"/>
                  <a:pt x="86924" y="61698"/>
                </a:cubicBezTo>
                <a:cubicBezTo>
                  <a:pt x="88087" y="61202"/>
                  <a:pt x="89247" y="60727"/>
                  <a:pt x="90410" y="60260"/>
                </a:cubicBezTo>
                <a:cubicBezTo>
                  <a:pt x="91513" y="59679"/>
                  <a:pt x="92630" y="59097"/>
                  <a:pt x="93762" y="58517"/>
                </a:cubicBezTo>
                <a:cubicBezTo>
                  <a:pt x="94895" y="57936"/>
                  <a:pt x="96015" y="57323"/>
                  <a:pt x="97122" y="56679"/>
                </a:cubicBezTo>
                <a:cubicBezTo>
                  <a:pt x="98347" y="56042"/>
                  <a:pt x="99552" y="55342"/>
                  <a:pt x="100737" y="54579"/>
                </a:cubicBezTo>
                <a:cubicBezTo>
                  <a:pt x="101922" y="53816"/>
                  <a:pt x="103128" y="53116"/>
                  <a:pt x="104357" y="52479"/>
                </a:cubicBezTo>
                <a:lnTo>
                  <a:pt x="110631" y="52479"/>
                </a:lnTo>
                <a:close/>
              </a:path>
            </a:pathLst>
          </a:custGeom>
          <a:solidFill>
            <a:srgbClr val="000000"/>
          </a:solidFill>
          <a:ln w="2580" cap="flat">
            <a:noFill/>
            <a:prstDash val="solid"/>
            <a:miter/>
          </a:ln>
        </p:spPr>
        <p:txBody>
          <a:bodyPr/>
          <a:lstStyle/>
          <a:p>
            <a:endParaRPr lang="en-CZ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22D015-EEE3-A8C0-786F-E9690548D0D7}"/>
              </a:ext>
            </a:extLst>
          </p:cNvPr>
          <p:cNvSpPr txBox="1"/>
          <p:nvPr/>
        </p:nvSpPr>
        <p:spPr>
          <a:xfrm>
            <a:off x="206330" y="36242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Inputs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A66ACC2-556F-DD11-FBA5-61D38A4DF70C}"/>
              </a:ext>
            </a:extLst>
          </p:cNvPr>
          <p:cNvSpPr txBox="1"/>
          <p:nvPr/>
        </p:nvSpPr>
        <p:spPr>
          <a:xfrm>
            <a:off x="21648" y="334733"/>
            <a:ext cx="1560165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Global land </a:t>
            </a:r>
            <a:r>
              <a:rPr lang="en-CZ" sz="900" dirty="0"/>
              <a:t>·</a:t>
            </a:r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 0.25° </a:t>
            </a:r>
          </a:p>
          <a:p>
            <a:pPr algn="ctr"/>
            <a:r>
              <a:rPr lang="en-CZ" sz="900" b="1" dirty="0">
                <a:latin typeface="Arial" panose="020B0604020202020204" pitchFamily="34" charset="0"/>
                <a:cs typeface="Arial" panose="020B0604020202020204" pitchFamily="34" charset="0"/>
              </a:rPr>
              <a:t>annual 1982–2021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6C4421-23B2-46D0-BDB6-038BC2B8FB71}"/>
              </a:ext>
            </a:extLst>
          </p:cNvPr>
          <p:cNvSpPr txBox="1"/>
          <p:nvPr/>
        </p:nvSpPr>
        <p:spPr>
          <a:xfrm>
            <a:off x="1325" y="2009786"/>
            <a:ext cx="12458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Reference ensembles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0491414-FA25-18A9-AE81-F57FC9F622C4}"/>
              </a:ext>
            </a:extLst>
          </p:cNvPr>
          <p:cNvSpPr/>
          <p:nvPr/>
        </p:nvSpPr>
        <p:spPr>
          <a:xfrm>
            <a:off x="116201" y="2205372"/>
            <a:ext cx="548730" cy="212889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8 P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0A549964-2D7C-4CD4-1B73-2987211E97EA}"/>
              </a:ext>
            </a:extLst>
          </p:cNvPr>
          <p:cNvSpPr/>
          <p:nvPr/>
        </p:nvSpPr>
        <p:spPr>
          <a:xfrm>
            <a:off x="781539" y="2205174"/>
            <a:ext cx="548730" cy="21289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8 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53719CA-9FD0-D60C-163E-2A9C16DBAA16}"/>
              </a:ext>
            </a:extLst>
          </p:cNvPr>
          <p:cNvSpPr txBox="1"/>
          <p:nvPr/>
        </p:nvSpPr>
        <p:spPr>
          <a:xfrm>
            <a:off x="28729" y="2395001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or evaluation only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F348231-E0F1-61DA-6F96-CFA42A4217BC}"/>
              </a:ext>
            </a:extLst>
          </p:cNvPr>
          <p:cNvSpPr txBox="1"/>
          <p:nvPr/>
        </p:nvSpPr>
        <p:spPr>
          <a:xfrm>
            <a:off x="1325" y="2562419"/>
            <a:ext cx="1527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Z" sz="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evaporation (PET)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24AF210F-5A3E-4608-067B-27026538D682}"/>
              </a:ext>
            </a:extLst>
          </p:cNvPr>
          <p:cNvSpPr/>
          <p:nvPr/>
        </p:nvSpPr>
        <p:spPr>
          <a:xfrm>
            <a:off x="116202" y="2773489"/>
            <a:ext cx="1209687" cy="212890"/>
          </a:xfrm>
          <a:prstGeom prst="roundRect">
            <a:avLst/>
          </a:prstGeom>
          <a:solidFill>
            <a:srgbClr val="C000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PET estimates</a:t>
            </a:r>
            <a:endParaRPr lang="en-CZ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443491E-BF33-ABF9-D130-00D10E0BDDD8}"/>
              </a:ext>
            </a:extLst>
          </p:cNvPr>
          <p:cNvSpPr txBox="1"/>
          <p:nvPr/>
        </p:nvSpPr>
        <p:spPr>
          <a:xfrm>
            <a:off x="28729" y="2969666"/>
            <a:ext cx="15359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or plausibility screening only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AA7D8F-61D3-8F6A-8D50-92795F875ACB}"/>
              </a:ext>
            </a:extLst>
          </p:cNvPr>
          <p:cNvSpPr txBox="1"/>
          <p:nvPr/>
        </p:nvSpPr>
        <p:spPr>
          <a:xfrm>
            <a:off x="12770" y="633456"/>
            <a:ext cx="1635617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Coherent </a:t>
            </a:r>
            <a:r>
              <a:rPr lang="en-CZ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precipitation (P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) and </a:t>
            </a:r>
          </a:p>
          <a:p>
            <a:r>
              <a:rPr lang="en-CZ" sz="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evaporation (E) 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candidate pairs</a:t>
            </a:r>
          </a:p>
        </p:txBody>
      </p:sp>
      <p:pic>
        <p:nvPicPr>
          <p:cNvPr id="92" name="Graphic 91" descr="Badge 3 with solid fill">
            <a:extLst>
              <a:ext uri="{FF2B5EF4-FFF2-40B4-BE49-F238E27FC236}">
                <a16:creationId xmlns:a16="http://schemas.microsoft.com/office/drawing/2014/main" id="{8D09CABA-5E72-AE41-8561-C51C441F0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042320" y="44139"/>
            <a:ext cx="252000" cy="2520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08DEC95B-F9C9-6680-BA4E-AA935E4256AA}"/>
              </a:ext>
            </a:extLst>
          </p:cNvPr>
          <p:cNvSpPr txBox="1"/>
          <p:nvPr/>
        </p:nvSpPr>
        <p:spPr>
          <a:xfrm>
            <a:off x="3064979" y="334027"/>
            <a:ext cx="165080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Use 4 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error metrics 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to calculate 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performance scores</a:t>
            </a:r>
            <a:r>
              <a:rPr lang="en-CZ" sz="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Z" sz="800" b="1" dirty="0">
                <a:latin typeface="Arial" panose="020B0604020202020204" pitchFamily="34" charset="0"/>
                <a:cs typeface="Arial" panose="020B0604020202020204" pitchFamily="34" charset="0"/>
              </a:rPr>
              <a:t>ranks</a:t>
            </a:r>
          </a:p>
          <a:p>
            <a:endParaRPr lang="en-CZ" sz="800" dirty="0"/>
          </a:p>
        </p:txBody>
      </p:sp>
    </p:spTree>
    <p:extLst>
      <p:ext uri="{BB962C8B-B14F-4D97-AF65-F5344CB8AC3E}">
        <p14:creationId xmlns:p14="http://schemas.microsoft.com/office/powerpoint/2010/main" val="382111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2274</TotalTime>
  <Words>338</Words>
  <Application>Microsoft Macintosh PowerPoint</Application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Thomson Johanna Ruth</dc:creator>
  <cp:lastModifiedBy>Thomson Johanna Ruth</cp:lastModifiedBy>
  <cp:revision>63</cp:revision>
  <dcterms:created xsi:type="dcterms:W3CDTF">2026-10-13T07:03:06Z</dcterms:created>
  <dcterms:modified xsi:type="dcterms:W3CDTF">2026-10-15T12:00:45Z</dcterms:modified>
</cp:coreProperties>
</file>